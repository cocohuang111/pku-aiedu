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34" r:id="rId1"/>
  </p:sldMasterIdLst>
  <p:notesMasterIdLst>
    <p:notesMasterId r:id="rId9"/>
  </p:notesMasterIdLst>
  <p:sldIdLst>
    <p:sldId id="333" r:id="rId2"/>
    <p:sldId id="334" r:id="rId3"/>
    <p:sldId id="316" r:id="rId4"/>
    <p:sldId id="335" r:id="rId5"/>
    <p:sldId id="337" r:id="rId6"/>
    <p:sldId id="339" r:id="rId7"/>
    <p:sldId id="31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F75C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52"/>
    <p:restoredTop sz="92932"/>
  </p:normalViewPr>
  <p:slideViewPr>
    <p:cSldViewPr snapToGrid="0" snapToObjects="1">
      <p:cViewPr varScale="1">
        <p:scale>
          <a:sx n="109" d="100"/>
          <a:sy n="109" d="100"/>
        </p:scale>
        <p:origin x="184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FAE38-2637-4F66-9E2B-DFB3A20C2B4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7C7D1A61-ED23-4B13-A899-936A1DD79B7A}">
      <dgm:prSet phldrT="[文本]"/>
      <dgm:spPr/>
      <dgm:t>
        <a:bodyPr/>
        <a:lstStyle/>
        <a:p>
          <a:r>
            <a:rPr lang="en-US" altLang="zh-CN" dirty="0"/>
            <a:t>What does science try to describe?</a:t>
          </a:r>
          <a:endParaRPr lang="zh-CN" altLang="en-US" dirty="0"/>
        </a:p>
      </dgm:t>
    </dgm:pt>
    <dgm:pt modelId="{84AA1E36-0B32-491F-A7E2-B897095990B2}" type="parTrans" cxnId="{C46A6A43-D3AA-4596-A5D8-8FC8D6120342}">
      <dgm:prSet/>
      <dgm:spPr/>
      <dgm:t>
        <a:bodyPr/>
        <a:lstStyle/>
        <a:p>
          <a:endParaRPr lang="zh-CN" altLang="en-US"/>
        </a:p>
      </dgm:t>
    </dgm:pt>
    <dgm:pt modelId="{35B468F3-ED5B-4CAD-AFCB-908DF6B92523}" type="sibTrans" cxnId="{C46A6A43-D3AA-4596-A5D8-8FC8D6120342}">
      <dgm:prSet/>
      <dgm:spPr/>
      <dgm:t>
        <a:bodyPr/>
        <a:lstStyle/>
        <a:p>
          <a:endParaRPr lang="zh-CN" altLang="en-US"/>
        </a:p>
      </dgm:t>
    </dgm:pt>
    <dgm:pt modelId="{53725758-2F2F-40F3-9640-877614C00C14}">
      <dgm:prSet phldrT="[文本]"/>
      <dgm:spPr/>
      <dgm:t>
        <a:bodyPr/>
        <a:lstStyle/>
        <a:p>
          <a:r>
            <a:rPr lang="en-US" altLang="zh-CN" dirty="0"/>
            <a:t>“the world”, of course</a:t>
          </a:r>
          <a:endParaRPr lang="zh-CN" altLang="en-US" dirty="0"/>
        </a:p>
      </dgm:t>
    </dgm:pt>
    <dgm:pt modelId="{C19EF4AB-B860-41E7-BE24-779DF4C6B82B}" type="parTrans" cxnId="{FE0A8DCA-2F8F-4DA5-829C-BBDE07CC8030}">
      <dgm:prSet/>
      <dgm:spPr/>
      <dgm:t>
        <a:bodyPr/>
        <a:lstStyle/>
        <a:p>
          <a:endParaRPr lang="zh-CN" altLang="en-US"/>
        </a:p>
      </dgm:t>
    </dgm:pt>
    <dgm:pt modelId="{33F432C6-0A09-47E8-9E03-CA250C5579BF}" type="sibTrans" cxnId="{FE0A8DCA-2F8F-4DA5-829C-BBDE07CC8030}">
      <dgm:prSet/>
      <dgm:spPr/>
      <dgm:t>
        <a:bodyPr/>
        <a:lstStyle/>
        <a:p>
          <a:endParaRPr lang="zh-CN" altLang="en-US"/>
        </a:p>
      </dgm:t>
    </dgm:pt>
    <dgm:pt modelId="{CA004E38-418A-48D1-A7EB-3CB89414EA13}">
      <dgm:prSet phldrT="[文本]"/>
      <dgm:spPr/>
      <dgm:t>
        <a:bodyPr/>
        <a:lstStyle/>
        <a:p>
          <a:r>
            <a:rPr lang="en-US" altLang="zh-CN" dirty="0"/>
            <a:t>Is there a “real world” out there that science can come to know about?</a:t>
          </a:r>
          <a:endParaRPr lang="zh-CN" altLang="en-US" dirty="0"/>
        </a:p>
      </dgm:t>
    </dgm:pt>
    <dgm:pt modelId="{449FA090-D900-479B-8507-13CBDC81E985}" type="parTrans" cxnId="{2EF89110-0A37-4084-9ADB-15BFC8CAF481}">
      <dgm:prSet/>
      <dgm:spPr/>
      <dgm:t>
        <a:bodyPr/>
        <a:lstStyle/>
        <a:p>
          <a:endParaRPr lang="zh-CN" altLang="en-US"/>
        </a:p>
      </dgm:t>
    </dgm:pt>
    <dgm:pt modelId="{BC4F22D1-65D7-4F4D-A0B1-6B87DF1E42C7}" type="sibTrans" cxnId="{2EF89110-0A37-4084-9ADB-15BFC8CAF481}">
      <dgm:prSet/>
      <dgm:spPr/>
      <dgm:t>
        <a:bodyPr/>
        <a:lstStyle/>
        <a:p>
          <a:endParaRPr lang="zh-CN" altLang="en-US"/>
        </a:p>
      </dgm:t>
    </dgm:pt>
    <dgm:pt modelId="{C5FDFF34-0699-432E-84CE-64B16401B923}">
      <dgm:prSet phldrT="[文本]"/>
      <dgm:spPr/>
      <dgm:t>
        <a:bodyPr/>
        <a:lstStyle/>
        <a:p>
          <a:r>
            <a:rPr lang="en-US" altLang="zh-CN" dirty="0"/>
            <a:t>Does nature have joints, and can science carve those nature joints?</a:t>
          </a:r>
          <a:endParaRPr lang="zh-CN" altLang="en-US" dirty="0"/>
        </a:p>
      </dgm:t>
    </dgm:pt>
    <dgm:pt modelId="{E758EBB5-5ACE-40C2-B66D-CBB366A35ECA}" type="parTrans" cxnId="{FC49DF78-A54A-471E-AD5C-BDE5167C2AF4}">
      <dgm:prSet/>
      <dgm:spPr/>
      <dgm:t>
        <a:bodyPr/>
        <a:lstStyle/>
        <a:p>
          <a:endParaRPr lang="zh-CN" altLang="en-US"/>
        </a:p>
      </dgm:t>
    </dgm:pt>
    <dgm:pt modelId="{486C8E08-3DE2-4F6F-A11E-D3778BA86F53}" type="sibTrans" cxnId="{FC49DF78-A54A-471E-AD5C-BDE5167C2AF4}">
      <dgm:prSet/>
      <dgm:spPr/>
      <dgm:t>
        <a:bodyPr/>
        <a:lstStyle/>
        <a:p>
          <a:endParaRPr lang="zh-CN" altLang="en-US"/>
        </a:p>
      </dgm:t>
    </dgm:pt>
    <dgm:pt modelId="{13DCE2FA-3817-4C5D-9153-FABEE321B050}">
      <dgm:prSet phldrT="[文本]"/>
      <dgm:spPr/>
      <dgm:t>
        <a:bodyPr/>
        <a:lstStyle/>
        <a:p>
          <a:r>
            <a:rPr lang="en-US" altLang="zh-CN"/>
            <a:t>Affirmative answers are known as “scientific realism”</a:t>
          </a:r>
          <a:endParaRPr lang="zh-CN" altLang="en-US" dirty="0"/>
        </a:p>
      </dgm:t>
    </dgm:pt>
    <dgm:pt modelId="{5C09064D-EBB6-44A0-AC6A-327E926172E1}" type="parTrans" cxnId="{3B9C365C-6EFF-48B3-8F0A-DE903FE07714}">
      <dgm:prSet/>
      <dgm:spPr/>
      <dgm:t>
        <a:bodyPr/>
        <a:lstStyle/>
        <a:p>
          <a:endParaRPr lang="zh-CN" altLang="en-US"/>
        </a:p>
      </dgm:t>
    </dgm:pt>
    <dgm:pt modelId="{A544F72C-B402-488B-96C6-4357DA184C1E}" type="sibTrans" cxnId="{3B9C365C-6EFF-48B3-8F0A-DE903FE07714}">
      <dgm:prSet/>
      <dgm:spPr/>
      <dgm:t>
        <a:bodyPr/>
        <a:lstStyle/>
        <a:p>
          <a:endParaRPr lang="zh-CN" altLang="en-US"/>
        </a:p>
      </dgm:t>
    </dgm:pt>
    <dgm:pt modelId="{710B00A9-705F-4129-84A9-E62D07BB2AFB}" type="pres">
      <dgm:prSet presAssocID="{E08FAE38-2637-4F66-9E2B-DFB3A20C2B44}" presName="linear" presStyleCnt="0">
        <dgm:presLayoutVars>
          <dgm:animLvl val="lvl"/>
          <dgm:resizeHandles val="exact"/>
        </dgm:presLayoutVars>
      </dgm:prSet>
      <dgm:spPr/>
    </dgm:pt>
    <dgm:pt modelId="{F1FDCA25-D139-45B0-9042-B0070C073066}" type="pres">
      <dgm:prSet presAssocID="{7C7D1A61-ED23-4B13-A899-936A1DD79B7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E45CC6B-69BD-4F60-B94F-DE9AB93634D4}" type="pres">
      <dgm:prSet presAssocID="{7C7D1A61-ED23-4B13-A899-936A1DD79B7A}" presName="childText" presStyleLbl="revTx" presStyleIdx="0" presStyleCnt="2">
        <dgm:presLayoutVars>
          <dgm:bulletEnabled val="1"/>
        </dgm:presLayoutVars>
      </dgm:prSet>
      <dgm:spPr/>
    </dgm:pt>
    <dgm:pt modelId="{C5964083-675B-4ECB-A30C-A2EF3E5BD57F}" type="pres">
      <dgm:prSet presAssocID="{CA004E38-418A-48D1-A7EB-3CB89414EA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2182F16-49B7-4D99-9302-D0F5CA076200}" type="pres">
      <dgm:prSet presAssocID="{CA004E38-418A-48D1-A7EB-3CB89414EA13}" presName="childText" presStyleLbl="revTx" presStyleIdx="1" presStyleCnt="2">
        <dgm:presLayoutVars>
          <dgm:bulletEnabled val="1"/>
        </dgm:presLayoutVars>
      </dgm:prSet>
      <dgm:spPr/>
    </dgm:pt>
    <dgm:pt modelId="{5A15DD23-C973-41C2-BC87-59439A418CC2}" type="pres">
      <dgm:prSet presAssocID="{13DCE2FA-3817-4C5D-9153-FABEE321B05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C7E550D-1C6F-4BF6-98F6-2022E803BF12}" type="presOf" srcId="{13DCE2FA-3817-4C5D-9153-FABEE321B050}" destId="{5A15DD23-C973-41C2-BC87-59439A418CC2}" srcOrd="0" destOrd="0" presId="urn:microsoft.com/office/officeart/2005/8/layout/vList2"/>
    <dgm:cxn modelId="{2EF89110-0A37-4084-9ADB-15BFC8CAF481}" srcId="{E08FAE38-2637-4F66-9E2B-DFB3A20C2B44}" destId="{CA004E38-418A-48D1-A7EB-3CB89414EA13}" srcOrd="1" destOrd="0" parTransId="{449FA090-D900-479B-8507-13CBDC81E985}" sibTransId="{BC4F22D1-65D7-4F4D-A0B1-6B87DF1E42C7}"/>
    <dgm:cxn modelId="{96F2CC2C-934E-4DAE-B990-89951DBA96AD}" type="presOf" srcId="{CA004E38-418A-48D1-A7EB-3CB89414EA13}" destId="{C5964083-675B-4ECB-A30C-A2EF3E5BD57F}" srcOrd="0" destOrd="0" presId="urn:microsoft.com/office/officeart/2005/8/layout/vList2"/>
    <dgm:cxn modelId="{C46A6A43-D3AA-4596-A5D8-8FC8D6120342}" srcId="{E08FAE38-2637-4F66-9E2B-DFB3A20C2B44}" destId="{7C7D1A61-ED23-4B13-A899-936A1DD79B7A}" srcOrd="0" destOrd="0" parTransId="{84AA1E36-0B32-491F-A7E2-B897095990B2}" sibTransId="{35B468F3-ED5B-4CAD-AFCB-908DF6B92523}"/>
    <dgm:cxn modelId="{26082C46-3743-4293-AC5B-6E1F951CFF3F}" type="presOf" srcId="{C5FDFF34-0699-432E-84CE-64B16401B923}" destId="{F2182F16-49B7-4D99-9302-D0F5CA076200}" srcOrd="0" destOrd="0" presId="urn:microsoft.com/office/officeart/2005/8/layout/vList2"/>
    <dgm:cxn modelId="{3B9C365C-6EFF-48B3-8F0A-DE903FE07714}" srcId="{E08FAE38-2637-4F66-9E2B-DFB3A20C2B44}" destId="{13DCE2FA-3817-4C5D-9153-FABEE321B050}" srcOrd="2" destOrd="0" parTransId="{5C09064D-EBB6-44A0-AC6A-327E926172E1}" sibTransId="{A544F72C-B402-488B-96C6-4357DA184C1E}"/>
    <dgm:cxn modelId="{E64ABB6C-0627-4122-B9EB-CD11871F3CE7}" type="presOf" srcId="{E08FAE38-2637-4F66-9E2B-DFB3A20C2B44}" destId="{710B00A9-705F-4129-84A9-E62D07BB2AFB}" srcOrd="0" destOrd="0" presId="urn:microsoft.com/office/officeart/2005/8/layout/vList2"/>
    <dgm:cxn modelId="{FC49DF78-A54A-471E-AD5C-BDE5167C2AF4}" srcId="{CA004E38-418A-48D1-A7EB-3CB89414EA13}" destId="{C5FDFF34-0699-432E-84CE-64B16401B923}" srcOrd="0" destOrd="0" parTransId="{E758EBB5-5ACE-40C2-B66D-CBB366A35ECA}" sibTransId="{486C8E08-3DE2-4F6F-A11E-D3778BA86F53}"/>
    <dgm:cxn modelId="{6967B897-52D8-400F-8A59-044873D6A237}" type="presOf" srcId="{53725758-2F2F-40F3-9640-877614C00C14}" destId="{AE45CC6B-69BD-4F60-B94F-DE9AB93634D4}" srcOrd="0" destOrd="0" presId="urn:microsoft.com/office/officeart/2005/8/layout/vList2"/>
    <dgm:cxn modelId="{FE0A8DCA-2F8F-4DA5-829C-BBDE07CC8030}" srcId="{7C7D1A61-ED23-4B13-A899-936A1DD79B7A}" destId="{53725758-2F2F-40F3-9640-877614C00C14}" srcOrd="0" destOrd="0" parTransId="{C19EF4AB-B860-41E7-BE24-779DF4C6B82B}" sibTransId="{33F432C6-0A09-47E8-9E03-CA250C5579BF}"/>
    <dgm:cxn modelId="{DFA631EE-64D2-48E8-A991-29178EDF355E}" type="presOf" srcId="{7C7D1A61-ED23-4B13-A899-936A1DD79B7A}" destId="{F1FDCA25-D139-45B0-9042-B0070C073066}" srcOrd="0" destOrd="0" presId="urn:microsoft.com/office/officeart/2005/8/layout/vList2"/>
    <dgm:cxn modelId="{8F5BFBC6-690D-4B76-AAD8-B61FA57A703C}" type="presParOf" srcId="{710B00A9-705F-4129-84A9-E62D07BB2AFB}" destId="{F1FDCA25-D139-45B0-9042-B0070C073066}" srcOrd="0" destOrd="0" presId="urn:microsoft.com/office/officeart/2005/8/layout/vList2"/>
    <dgm:cxn modelId="{21488FC3-EBCA-4F4D-9D3D-0D38497649C6}" type="presParOf" srcId="{710B00A9-705F-4129-84A9-E62D07BB2AFB}" destId="{AE45CC6B-69BD-4F60-B94F-DE9AB93634D4}" srcOrd="1" destOrd="0" presId="urn:microsoft.com/office/officeart/2005/8/layout/vList2"/>
    <dgm:cxn modelId="{FFE09581-BE93-4CA8-B051-CEA7C3596BB7}" type="presParOf" srcId="{710B00A9-705F-4129-84A9-E62D07BB2AFB}" destId="{C5964083-675B-4ECB-A30C-A2EF3E5BD57F}" srcOrd="2" destOrd="0" presId="urn:microsoft.com/office/officeart/2005/8/layout/vList2"/>
    <dgm:cxn modelId="{DFE3DB27-A20C-4AED-BD18-E6D691EC9905}" type="presParOf" srcId="{710B00A9-705F-4129-84A9-E62D07BB2AFB}" destId="{F2182F16-49B7-4D99-9302-D0F5CA076200}" srcOrd="3" destOrd="0" presId="urn:microsoft.com/office/officeart/2005/8/layout/vList2"/>
    <dgm:cxn modelId="{F26C8FE6-3AC6-4E54-A44D-1976AC3276FF}" type="presParOf" srcId="{710B00A9-705F-4129-84A9-E62D07BB2AFB}" destId="{5A15DD23-C973-41C2-BC87-59439A418CC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FDCA25-D139-45B0-9042-B0070C073066}">
      <dsp:nvSpPr>
        <dsp:cNvPr id="0" name=""/>
        <dsp:cNvSpPr/>
      </dsp:nvSpPr>
      <dsp:spPr>
        <a:xfrm>
          <a:off x="0" y="704619"/>
          <a:ext cx="10515600" cy="6715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What does science try to describe?</a:t>
          </a:r>
          <a:endParaRPr lang="zh-CN" altLang="en-US" sz="2800" kern="1200" dirty="0"/>
        </a:p>
      </dsp:txBody>
      <dsp:txXfrm>
        <a:off x="32784" y="737403"/>
        <a:ext cx="10450032" cy="606012"/>
      </dsp:txXfrm>
    </dsp:sp>
    <dsp:sp modelId="{AE45CC6B-69BD-4F60-B94F-DE9AB93634D4}">
      <dsp:nvSpPr>
        <dsp:cNvPr id="0" name=""/>
        <dsp:cNvSpPr/>
      </dsp:nvSpPr>
      <dsp:spPr>
        <a:xfrm>
          <a:off x="0" y="1376199"/>
          <a:ext cx="105156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200" kern="1200" dirty="0"/>
            <a:t>“the world”, of course</a:t>
          </a:r>
          <a:endParaRPr lang="zh-CN" altLang="en-US" sz="2200" kern="1200" dirty="0"/>
        </a:p>
      </dsp:txBody>
      <dsp:txXfrm>
        <a:off x="0" y="1376199"/>
        <a:ext cx="10515600" cy="463680"/>
      </dsp:txXfrm>
    </dsp:sp>
    <dsp:sp modelId="{C5964083-675B-4ECB-A30C-A2EF3E5BD57F}">
      <dsp:nvSpPr>
        <dsp:cNvPr id="0" name=""/>
        <dsp:cNvSpPr/>
      </dsp:nvSpPr>
      <dsp:spPr>
        <a:xfrm>
          <a:off x="0" y="1839879"/>
          <a:ext cx="10515600" cy="671580"/>
        </a:xfrm>
        <a:prstGeom prst="roundRect">
          <a:avLst/>
        </a:prstGeom>
        <a:solidFill>
          <a:schemeClr val="accent5">
            <a:hueOff val="553124"/>
            <a:satOff val="6280"/>
            <a:lumOff val="568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 dirty="0"/>
            <a:t>Is there a “real world” out there that science can come to know about?</a:t>
          </a:r>
          <a:endParaRPr lang="zh-CN" altLang="en-US" sz="2800" kern="1200" dirty="0"/>
        </a:p>
      </dsp:txBody>
      <dsp:txXfrm>
        <a:off x="32784" y="1872663"/>
        <a:ext cx="10450032" cy="606012"/>
      </dsp:txXfrm>
    </dsp:sp>
    <dsp:sp modelId="{F2182F16-49B7-4D99-9302-D0F5CA076200}">
      <dsp:nvSpPr>
        <dsp:cNvPr id="0" name=""/>
        <dsp:cNvSpPr/>
      </dsp:nvSpPr>
      <dsp:spPr>
        <a:xfrm>
          <a:off x="0" y="2511459"/>
          <a:ext cx="10515600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altLang="zh-CN" sz="2200" kern="1200" dirty="0"/>
            <a:t>Does nature have joints, and can science carve those nature joints?</a:t>
          </a:r>
          <a:endParaRPr lang="zh-CN" altLang="en-US" sz="2200" kern="1200" dirty="0"/>
        </a:p>
      </dsp:txBody>
      <dsp:txXfrm>
        <a:off x="0" y="2511459"/>
        <a:ext cx="10515600" cy="463680"/>
      </dsp:txXfrm>
    </dsp:sp>
    <dsp:sp modelId="{5A15DD23-C973-41C2-BC87-59439A418CC2}">
      <dsp:nvSpPr>
        <dsp:cNvPr id="0" name=""/>
        <dsp:cNvSpPr/>
      </dsp:nvSpPr>
      <dsp:spPr>
        <a:xfrm>
          <a:off x="0" y="2975139"/>
          <a:ext cx="10515600" cy="671580"/>
        </a:xfrm>
        <a:prstGeom prst="roundRect">
          <a:avLst/>
        </a:prstGeom>
        <a:solidFill>
          <a:schemeClr val="accent5">
            <a:hueOff val="1106248"/>
            <a:satOff val="12561"/>
            <a:lumOff val="1137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kern="1200"/>
            <a:t>Affirmative answers are known as “scientific realism”</a:t>
          </a:r>
          <a:endParaRPr lang="zh-CN" altLang="en-US" sz="2800" kern="1200" dirty="0"/>
        </a:p>
      </dsp:txBody>
      <dsp:txXfrm>
        <a:off x="32784" y="3007923"/>
        <a:ext cx="10450032" cy="6060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BA0FD-A870-6B4B-B869-CCEF8801C311}" type="datetimeFigureOut">
              <a:rPr lang="en-US" smtClean="0"/>
              <a:t>3/11/22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4C127-4736-1C4A-847B-F712DD73D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3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80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151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02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85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95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79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4046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56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3/11/22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1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850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022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3/11/22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409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What is scientific realism?</a:t>
            </a:r>
            <a:endParaRPr lang="zh-CN" altLang="en-US" b="1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1300339"/>
              </p:ext>
            </p:extLst>
          </p:nvPr>
        </p:nvGraphicFramePr>
        <p:xfrm>
          <a:off x="838200" y="153987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586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What is scientific realism?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044700"/>
            <a:ext cx="639196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u="sng" dirty="0">
                <a:solidFill>
                  <a:schemeClr val="accent4"/>
                </a:solidFill>
              </a:rPr>
              <a:t>Metaphysical Modesty:</a:t>
            </a:r>
            <a:endParaRPr lang="zh-CN" altLang="en-US" sz="2400" u="sng" dirty="0">
              <a:solidFill>
                <a:schemeClr val="accent4"/>
              </a:solidFill>
            </a:endParaRPr>
          </a:p>
          <a:p>
            <a:pPr lvl="1"/>
            <a:r>
              <a:rPr lang="en-US" altLang="zh-CN" dirty="0"/>
              <a:t>The world exists independent of our thoughts about it.</a:t>
            </a:r>
          </a:p>
          <a:p>
            <a:pPr marL="0" indent="0">
              <a:buNone/>
            </a:pPr>
            <a:r>
              <a:rPr lang="en-US" altLang="zh-CN" sz="2400" u="sng" dirty="0">
                <a:solidFill>
                  <a:schemeClr val="accent4"/>
                </a:solidFill>
              </a:rPr>
              <a:t>Epistemic Immodesty:</a:t>
            </a:r>
          </a:p>
          <a:p>
            <a:pPr lvl="1"/>
            <a:r>
              <a:rPr lang="en-US" altLang="zh-CN" dirty="0"/>
              <a:t>We can come to know the world more or less accurately.</a:t>
            </a:r>
          </a:p>
          <a:p>
            <a:r>
              <a:rPr lang="en-US" altLang="zh-CN" sz="2400" dirty="0"/>
              <a:t>The </a:t>
            </a:r>
            <a:r>
              <a:rPr lang="en-US" altLang="zh-CN" sz="2400" dirty="0">
                <a:solidFill>
                  <a:schemeClr val="accent5"/>
                </a:solidFill>
              </a:rPr>
              <a:t>more independent</a:t>
            </a:r>
            <a:r>
              <a:rPr lang="en-US" altLang="zh-CN" sz="2400" dirty="0"/>
              <a:t> the world is of our thoughts, the </a:t>
            </a:r>
            <a:r>
              <a:rPr lang="en-US" altLang="zh-CN" sz="2400" dirty="0">
                <a:solidFill>
                  <a:schemeClr val="accent5"/>
                </a:solidFill>
              </a:rPr>
              <a:t>more pessimistic </a:t>
            </a:r>
            <a:r>
              <a:rPr lang="en-US" altLang="zh-CN" sz="2400" dirty="0"/>
              <a:t>we should be of our ability to know 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/>
              <a:t> A more detailed account of </a:t>
            </a:r>
            <a:r>
              <a:rPr lang="en-US" altLang="zh-CN" sz="2400" dirty="0">
                <a:solidFill>
                  <a:schemeClr val="accent5"/>
                </a:solidFill>
              </a:rPr>
              <a:t>how theory and reality are connected</a:t>
            </a:r>
            <a:r>
              <a:rPr lang="en-US" altLang="zh-CN" sz="2400" dirty="0"/>
              <a:t>. </a:t>
            </a:r>
          </a:p>
          <a:p>
            <a:endParaRPr lang="zh-CN" altLang="en-US" sz="2400" dirty="0"/>
          </a:p>
        </p:txBody>
      </p:sp>
      <p:sp>
        <p:nvSpPr>
          <p:cNvPr id="7" name="左弧形箭头 6"/>
          <p:cNvSpPr/>
          <p:nvPr/>
        </p:nvSpPr>
        <p:spPr>
          <a:xfrm>
            <a:off x="485775" y="2667000"/>
            <a:ext cx="352425" cy="2333625"/>
          </a:xfrm>
          <a:prstGeom prst="curved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1" t="14165" r="16105" b="8612"/>
          <a:stretch/>
        </p:blipFill>
        <p:spPr>
          <a:xfrm>
            <a:off x="7144435" y="1957388"/>
            <a:ext cx="496184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03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77B8-A0A0-7C44-8E06-4E956961F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 Strange Debates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41A6F-48FD-6842-804C-1E709D999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851"/>
            <a:ext cx="8248650" cy="432911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Science describes the </a:t>
            </a:r>
            <a:r>
              <a:rPr lang="en-US" altLang="zh-CN" sz="2400" dirty="0">
                <a:solidFill>
                  <a:schemeClr val="accent5"/>
                </a:solidFill>
              </a:rPr>
              <a:t>observable things </a:t>
            </a:r>
            <a:r>
              <a:rPr lang="en-US" altLang="zh-CN" sz="2400" dirty="0"/>
              <a:t>in the world, but what about the </a:t>
            </a:r>
            <a:r>
              <a:rPr lang="en-US" altLang="zh-CN" sz="2400" dirty="0">
                <a:solidFill>
                  <a:schemeClr val="accent5"/>
                </a:solidFill>
              </a:rPr>
              <a:t>unobservable things</a:t>
            </a:r>
            <a:r>
              <a:rPr lang="en-US" altLang="zh-CN" sz="2400" dirty="0"/>
              <a:t>?</a:t>
            </a:r>
            <a:endParaRPr lang="en-US" sz="2400" dirty="0">
              <a:solidFill>
                <a:schemeClr val="accent4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accent4"/>
                </a:solidFill>
              </a:rPr>
              <a:t>Was the world of one thousand years ago a world of electrons? 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400" dirty="0"/>
              <a:t> </a:t>
            </a:r>
            <a:r>
              <a:rPr lang="en-US" sz="2400" dirty="0"/>
              <a:t>Yes, although nobody knew it back then. 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About epistemic immodesty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zh-CN" altLang="en-US" sz="2400" dirty="0"/>
              <a:t> </a:t>
            </a:r>
            <a:r>
              <a:rPr lang="en-US" sz="2400" dirty="0"/>
              <a:t>we must regard the existence of electrons as </a:t>
            </a:r>
            <a:r>
              <a:rPr lang="en-US" sz="2400" dirty="0">
                <a:solidFill>
                  <a:schemeClr val="accent5"/>
                </a:solidFill>
              </a:rPr>
              <a:t>dependent on </a:t>
            </a:r>
            <a:r>
              <a:rPr lang="en-US" sz="2400" dirty="0"/>
              <a:t>our conceptualization of the world. </a:t>
            </a:r>
          </a:p>
          <a:p>
            <a:pPr lvl="1">
              <a:lnSpc>
                <a:spcPct val="100000"/>
              </a:lnSpc>
            </a:pPr>
            <a:r>
              <a:rPr lang="en-US" u="sng" dirty="0"/>
              <a:t>Rejecting metaphysical modesty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C8E8EF-84DE-ED4B-9BCE-98203BFDC4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38" t="9726" r="34677" b="15496"/>
          <a:stretch/>
        </p:blipFill>
        <p:spPr>
          <a:xfrm>
            <a:off x="9425832" y="2413489"/>
            <a:ext cx="2261343" cy="243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49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u="sng" dirty="0"/>
              <a:t>Rejecting Metaphysical Modesty </a:t>
            </a:r>
            <a:r>
              <a:rPr lang="en-US" altLang="zh-CN" u="sng" dirty="0">
                <a:solidFill>
                  <a:schemeClr val="accent4"/>
                </a:solidFill>
              </a:rPr>
              <a:t>[Kuhn]: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>
                <a:solidFill>
                  <a:schemeClr val="accent5"/>
                </a:solidFill>
              </a:rPr>
              <a:t>Logical empiricism</a:t>
            </a:r>
            <a:r>
              <a:rPr lang="en-US" altLang="zh-CN" sz="2400" dirty="0"/>
              <a:t>: reject any talk of the real world beyond what we observe as meaningless. [</a:t>
            </a:r>
            <a:r>
              <a:rPr lang="en-US" altLang="zh-CN" sz="2400" dirty="0">
                <a:solidFill>
                  <a:schemeClr val="accent4"/>
                </a:solidFill>
              </a:rPr>
              <a:t>Never go beyond evidence</a:t>
            </a:r>
            <a:r>
              <a:rPr lang="en-US" altLang="zh-CN" sz="2400" dirty="0"/>
              <a:t>]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 Observable Vs. </a:t>
            </a:r>
            <a:r>
              <a:rPr lang="en-US" altLang="zh-CN" dirty="0">
                <a:solidFill>
                  <a:schemeClr val="accent5"/>
                </a:solidFill>
              </a:rPr>
              <a:t>Theoretical entities</a:t>
            </a:r>
          </a:p>
          <a:p>
            <a:pPr lvl="2">
              <a:lnSpc>
                <a:spcPct val="100000"/>
              </a:lnSpc>
            </a:pPr>
            <a:r>
              <a:rPr lang="en-US" altLang="zh-CN" sz="2400" dirty="0"/>
              <a:t>Too small: electrons, quarks</a:t>
            </a:r>
          </a:p>
          <a:p>
            <a:pPr lvl="2">
              <a:lnSpc>
                <a:spcPct val="100000"/>
              </a:lnSpc>
            </a:pPr>
            <a:r>
              <a:rPr lang="en-US" altLang="zh-CN" sz="2400" dirty="0"/>
              <a:t>Invisible/insensible: radio waves, dark matter</a:t>
            </a:r>
          </a:p>
          <a:p>
            <a:pPr lvl="2">
              <a:lnSpc>
                <a:spcPct val="100000"/>
              </a:lnSpc>
            </a:pPr>
            <a:r>
              <a:rPr lang="en-US" altLang="zh-CN" sz="2400" dirty="0"/>
              <a:t>Scattered objects: species, solar systems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chemeClr val="accent5"/>
                </a:solidFill>
              </a:rPr>
              <a:t>Reduce talk of theoretical entities to talk of observable entities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“the tower is broadcasting </a:t>
            </a:r>
            <a:r>
              <a:rPr lang="en-US" altLang="zh-CN" u="sng" dirty="0"/>
              <a:t>radio waves</a:t>
            </a:r>
            <a:r>
              <a:rPr lang="en-US" altLang="zh-CN" dirty="0"/>
              <a:t>”: “if we turn on a radio in range we’ll hear the broadcast”</a:t>
            </a:r>
          </a:p>
          <a:p>
            <a:pPr lvl="1">
              <a:lnSpc>
                <a:spcPct val="100000"/>
              </a:lnSpc>
            </a:pPr>
            <a:r>
              <a:rPr lang="en-US" altLang="zh-CN" dirty="0"/>
              <a:t>Otherwise, an invitation to </a:t>
            </a:r>
            <a:r>
              <a:rPr lang="en-US" altLang="zh-CN" dirty="0">
                <a:solidFill>
                  <a:schemeClr val="accent4"/>
                </a:solidFill>
              </a:rPr>
              <a:t>metaphysics</a:t>
            </a:r>
            <a:endParaRPr lang="zh-CN" altLang="en-US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2540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4400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About epistemic immodesty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/>
              <a:t>‘Current realism’</a:t>
            </a:r>
          </a:p>
          <a:p>
            <a:r>
              <a:rPr lang="en-US" altLang="zh-CN" sz="2400" dirty="0"/>
              <a:t>Reality is more or less the way our </a:t>
            </a:r>
            <a:r>
              <a:rPr lang="en-US" altLang="zh-CN" sz="2400" dirty="0">
                <a:solidFill>
                  <a:schemeClr val="accent5"/>
                </a:solidFill>
              </a:rPr>
              <a:t>current best scientific theories </a:t>
            </a:r>
            <a:r>
              <a:rPr lang="en-US" altLang="zh-CN" sz="2400" dirty="0"/>
              <a:t>say it is.</a:t>
            </a:r>
          </a:p>
          <a:p>
            <a:pPr lvl="1"/>
            <a:r>
              <a:rPr lang="en-US" altLang="zh-CN" dirty="0"/>
              <a:t>Have survived rigorous testing</a:t>
            </a:r>
          </a:p>
          <a:p>
            <a:pPr lvl="1"/>
            <a:r>
              <a:rPr lang="en-US" altLang="zh-CN" dirty="0"/>
              <a:t>The details may change, but the core is mostly right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chemeClr val="accent5"/>
                </a:solidFill>
              </a:rPr>
              <a:t> If our current theories turn out to be wrong, then so does realism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en-US" altLang="zh-CN" sz="2400" dirty="0"/>
              <a:t>PGS: </a:t>
            </a:r>
            <a:r>
              <a:rPr lang="en-US" altLang="zh-CN" sz="2400" dirty="0">
                <a:solidFill>
                  <a:schemeClr val="accent5"/>
                </a:solidFill>
              </a:rPr>
              <a:t>How do we decide the right level of confidence to have in current science?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The question of realism (metaphysical question)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sz="2400" dirty="0"/>
              <a:t>The question of whether our current theories are correct (epistemic question)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569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FE3E3-DFDC-7340-818D-9F5A15B30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3 A Statement of Scientific Realism </a:t>
            </a:r>
            <a:endParaRPr lang="x-none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2" t="4071" b="6406"/>
          <a:stretch/>
        </p:blipFill>
        <p:spPr>
          <a:xfrm>
            <a:off x="838200" y="1612277"/>
            <a:ext cx="6505575" cy="4645648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F2A18A-34DD-104E-814C-5849D31DB2A8}"/>
              </a:ext>
            </a:extLst>
          </p:cNvPr>
          <p:cNvSpPr txBox="1">
            <a:spLocks/>
          </p:cNvSpPr>
          <p:nvPr/>
        </p:nvSpPr>
        <p:spPr>
          <a:xfrm>
            <a:off x="7353300" y="2111375"/>
            <a:ext cx="4343400" cy="3841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capture the possibility of both </a:t>
            </a:r>
            <a:r>
              <a:rPr lang="en-US" sz="2400" i="1" dirty="0"/>
              <a:t>optimistic </a:t>
            </a:r>
            <a:r>
              <a:rPr lang="en-US" sz="2400" dirty="0"/>
              <a:t>and </a:t>
            </a:r>
            <a:r>
              <a:rPr lang="en-US" sz="2400" i="1" dirty="0"/>
              <a:t>pessimistic </a:t>
            </a:r>
            <a:r>
              <a:rPr lang="en-US" sz="2400" dirty="0"/>
              <a:t>versions </a:t>
            </a:r>
          </a:p>
          <a:p>
            <a:r>
              <a:rPr lang="en-US" sz="2400" dirty="0"/>
              <a:t>a limit to the pessimism that is compatible with realism </a:t>
            </a:r>
          </a:p>
          <a:p>
            <a:r>
              <a:rPr lang="en-US" sz="2400" dirty="0">
                <a:solidFill>
                  <a:schemeClr val="accent4"/>
                </a:solidFill>
              </a:rPr>
              <a:t>Skeptical Realism [Kuhn]</a:t>
            </a:r>
            <a:r>
              <a:rPr lang="en-US" sz="2400" dirty="0">
                <a:solidFill>
                  <a:schemeClr val="accent5"/>
                </a:solidFill>
              </a:rPr>
              <a:t>? </a:t>
            </a:r>
            <a:r>
              <a:rPr lang="en-US" sz="2400" dirty="0"/>
              <a:t>the world is just so </a:t>
            </a:r>
            <a:r>
              <a:rPr lang="en-US" sz="2400" i="1" dirty="0"/>
              <a:t>complicated </a:t>
            </a:r>
            <a:r>
              <a:rPr lang="en-US" sz="2400" dirty="0"/>
              <a:t>that our theories will always run into trouble in the end </a:t>
            </a:r>
          </a:p>
        </p:txBody>
      </p:sp>
    </p:spTree>
    <p:extLst>
      <p:ext uri="{BB962C8B-B14F-4D97-AF65-F5344CB8AC3E}">
        <p14:creationId xmlns:p14="http://schemas.microsoft.com/office/powerpoint/2010/main" val="79039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AFAEE-2447-5C40-8136-EBA2AEDE3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80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7"/>
    </mc:Choice>
    <mc:Fallback xmlns="">
      <p:transition spd="slow" advTm="2867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32570</TotalTime>
  <Words>427</Words>
  <Application>Microsoft Macintosh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Office Theme</vt:lpstr>
      <vt:lpstr>What is scientific realism?</vt:lpstr>
      <vt:lpstr>What is scientific realism?</vt:lpstr>
      <vt:lpstr>1 Strange Debates</vt:lpstr>
      <vt:lpstr>Rejecting Metaphysical Modesty [Kuhn]:</vt:lpstr>
      <vt:lpstr>About epistemic immodesty</vt:lpstr>
      <vt:lpstr>3 A Statement of Scientific Realism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philosophy of biology?</dc:title>
  <dc:creator>Qiao</dc:creator>
  <cp:lastModifiedBy>Qiao</cp:lastModifiedBy>
  <cp:revision>1674</cp:revision>
  <dcterms:created xsi:type="dcterms:W3CDTF">2020-01-31T00:50:29Z</dcterms:created>
  <dcterms:modified xsi:type="dcterms:W3CDTF">2022-03-11T08:24:31Z</dcterms:modified>
</cp:coreProperties>
</file>