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7" r:id="rId2"/>
    <p:sldId id="303" r:id="rId3"/>
    <p:sldId id="259" r:id="rId4"/>
    <p:sldId id="299" r:id="rId5"/>
    <p:sldId id="300" r:id="rId6"/>
    <p:sldId id="302" r:id="rId7"/>
    <p:sldId id="261" r:id="rId8"/>
    <p:sldId id="260" r:id="rId9"/>
    <p:sldId id="262" r:id="rId10"/>
    <p:sldId id="264" r:id="rId11"/>
    <p:sldId id="263" r:id="rId12"/>
    <p:sldId id="265" r:id="rId13"/>
    <p:sldId id="266" r:id="rId14"/>
    <p:sldId id="267" r:id="rId15"/>
    <p:sldId id="269" r:id="rId16"/>
    <p:sldId id="270" r:id="rId17"/>
    <p:sldId id="271" r:id="rId18"/>
    <p:sldId id="273" r:id="rId19"/>
    <p:sldId id="272" r:id="rId20"/>
    <p:sldId id="275" r:id="rId21"/>
    <p:sldId id="276" r:id="rId22"/>
    <p:sldId id="277" r:id="rId23"/>
    <p:sldId id="274" r:id="rId24"/>
    <p:sldId id="280" r:id="rId25"/>
    <p:sldId id="279" r:id="rId26"/>
    <p:sldId id="278" r:id="rId27"/>
    <p:sldId id="281" r:id="rId28"/>
    <p:sldId id="282" r:id="rId29"/>
    <p:sldId id="283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7" r:id="rId39"/>
    <p:sldId id="293" r:id="rId40"/>
    <p:sldId id="294" r:id="rId41"/>
    <p:sldId id="296" r:id="rId42"/>
    <p:sldId id="295" r:id="rId43"/>
    <p:sldId id="29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1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C3803-E94C-4704-8399-057EE85874D0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885820-016F-49DB-AD7F-38F5021A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27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85820-016F-49DB-AD7F-38F5021A8C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14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85820-016F-49DB-AD7F-38F5021A8C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0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85820-016F-49DB-AD7F-38F5021A8C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95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85820-016F-49DB-AD7F-38F5021A8C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42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85820-016F-49DB-AD7F-38F5021A8C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2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85820-016F-49DB-AD7F-38F5021A8C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58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Heckman</a:t>
            </a:r>
            <a:r>
              <a:rPr lang="zh-CN" altLang="en-US" dirty="0"/>
              <a:t>模型一般用于解决样本选择偏差、自选择等问题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85820-016F-49DB-AD7F-38F5021A8CE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99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94C40-BE0E-48D7-9FD3-2F2170723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24B95B-4811-401A-A556-FA25BB0EE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3E6B3A-DE8D-4CFA-882D-EF2F99789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B8DD-E0B3-43A6-8B52-D94EE184EC3E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89416A-CE4A-45E2-90FF-DF17F43B9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12529F-702F-4F28-8CF4-C70143BE4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89BCF-23A2-4A92-B49F-A3B928AC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14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393E41-B180-4255-B2ED-71CACF840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0EE366-C276-4F8E-A71F-AA2199511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B9EAEC-8E90-45E6-A756-55EBCFAC2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B8DD-E0B3-43A6-8B52-D94EE184EC3E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B262C9-FCA7-4CA9-BC53-FFBACF35B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39784B-DAF2-47F1-A7D1-D011E550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89BCF-23A2-4A92-B49F-A3B928AC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3D498-421C-4487-A77B-5BADD2990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9BFA83-245F-41F0-AF8C-F47F2525A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195A64-17E4-4E09-9774-4356026C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B8DD-E0B3-43A6-8B52-D94EE184EC3E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876B3F-E01B-40B8-A3E1-376380DE9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6E63A-4FCB-4962-8C08-6DF4A2F4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89BCF-23A2-4A92-B49F-A3B928AC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805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5721B2-DB38-455C-A462-D37F5733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56AA97-2A56-42B9-8A03-F96A96F1F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F00496-2C0E-4734-821E-77B88B50D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9BD7F7-1765-46E6-885E-E70451AC1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B8DD-E0B3-43A6-8B52-D94EE184EC3E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499A91-2B4E-484D-8F29-586E092B9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0D8DC9-8B51-47FD-A963-A4F7201BA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89BCF-23A2-4A92-B49F-A3B928AC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8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72184-9A6B-4505-B2FD-DD1BCDF18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9B6889-FF6F-4DAA-9274-7ABB38841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380E15-0F40-4890-ABBD-FDFECF137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2E9E26-0B9D-4F2A-8E09-11ECE9CC8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B0EF78-F8BB-48C0-AA11-756934ABF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60368CE-2AE2-4185-AD00-4BE9A088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B8DD-E0B3-43A6-8B52-D94EE184EC3E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5A0A6E-CBF8-4C50-9A8E-F742A6652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2A5952-87A3-4578-9568-FB61D051C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89BCF-23A2-4A92-B49F-A3B928AC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8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74C69-639A-4B99-87FC-FBD6AABD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5F2E31-FB67-4E2D-B233-20E77966F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B8DD-E0B3-43A6-8B52-D94EE184EC3E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2C9923-1962-463E-B008-C8230753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6609E7-2C31-438C-90B3-08975BD7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89BCF-23A2-4A92-B49F-A3B928AC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22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0DC7F9-BCE6-4107-8340-65B883EE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B8DD-E0B3-43A6-8B52-D94EE184EC3E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8446F6-BAC2-4EB6-A59A-3BD662FC1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D86F09-8E28-49BA-8E6B-8B99A123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89BCF-23A2-4A92-B49F-A3B928AC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44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CAC1B3-2ED7-484B-B7E2-699F18E9E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F96261-5CF0-43D7-AF42-A4AEED353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C194EF-F436-47C0-B115-04852DC9A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6B9E5A-BB7E-4F06-A7E9-62E1BC6C1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B8DD-E0B3-43A6-8B52-D94EE184EC3E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4C53C5-60C0-4990-88B9-BAFDEC5E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416352-354F-4A3C-BD8F-59B2A50D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89BCF-23A2-4A92-B49F-A3B928AC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25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BFD55-AB64-4B39-AAF0-44B8B3E9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A4F22E-D7E9-49F1-82EC-537644C3C9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658E63-4F84-41E8-A2FA-EDCD8876F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ACF059-647A-404D-80DC-169A2DDA2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B8DD-E0B3-43A6-8B52-D94EE184EC3E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8897CD-8065-4399-8C35-2CF17710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F87494-DC82-4210-B15D-E9FEDDBB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89BCF-23A2-4A92-B49F-A3B928AC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7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468A6-3A89-4ACD-B61C-B24F5C34D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A92157-064B-49FF-A85B-EBB951768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6E8F10-0D5C-46F4-AE63-8C791DFE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B8DD-E0B3-43A6-8B52-D94EE184EC3E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D9C1E0-8B16-4D8D-AE3B-E9D7349D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FBF087-4A0B-4D32-9CDC-6E8AF3C0A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89BCF-23A2-4A92-B49F-A3B928AC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14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D8FC2A7-0CC5-4439-B8AD-E2196149C3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0BEF26-D024-42A4-B62D-FF0F61C15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9AAF71-E2C9-4143-9410-ACD2F0C1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B8DD-E0B3-43A6-8B52-D94EE184EC3E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99B1F5-AC6B-4239-B624-98D5C3042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FBAA17-D824-40A2-8A13-E6AE34BE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89BCF-23A2-4A92-B49F-A3B928AC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8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8887F3-466D-45D0-AE82-1A83325AB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97010E-14EC-4292-B32F-3C71A7717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AF2806-34F8-4F82-9EDE-3C4EEE07E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B8DD-E0B3-43A6-8B52-D94EE184EC3E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79DEB-30D6-440F-A074-869DF9DE9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2382F0-63BB-4590-A148-7C8782472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89BCF-23A2-4A92-B49F-A3B928AC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3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A5843-3F6B-49D5-9AA1-B41F08720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662" y="1300294"/>
            <a:ext cx="9144000" cy="697182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政治经济专题</a:t>
            </a:r>
            <a:endParaRPr lang="en-US" sz="4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4E26A9-77CF-4B4D-B911-E11423893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321" y="2649989"/>
            <a:ext cx="9144000" cy="1558022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第十一讲 再分配政策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授课教师：杨文辉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454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98F03250-2FA6-4988-832F-FFBDC1F69F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0951" y="920324"/>
            <a:ext cx="49819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507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C6B34-F142-4198-BB34-05AA76EC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第一部分 分配政治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8E7038-C91E-46E7-BC91-C7A27D662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004" y="2018417"/>
            <a:ext cx="6655558" cy="204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27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A6D387-991B-44C1-8A99-A7F6F2E02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分配政治核心议题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3C9E60-9D50-48A7-BD65-1BC77232E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32811"/>
          </a:xfrm>
        </p:spPr>
        <p:txBody>
          <a:bodyPr/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主要基于西方发达国家（选举政治）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谁收到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：政治家对于选区公共物品分配，核心支持者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VS.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摇摆选民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哪一类人收到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：政治家是否对特定人群分配更多公共物品，种族、民族、党派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什么时候分配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：政治周期（选举前）与公共物品分配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分配效果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：公共物品分配的政治后果（选举）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114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535CE7-E38E-4061-A854-E25706971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中国的分配政治：再分配与政府支持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F384C4-69C2-4990-AA70-6639CBBA47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4636" y="1690688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5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公共物品供给与政府态度</a:t>
                </a:r>
                <a:endPara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社会政策（废除义务教育学费）认知增加了对中央政府信任，降低地方政府信任（</a:t>
                </a:r>
                <a:r>
                  <a:rPr lang="en-US" altLang="zh-CN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L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altLang="zh-CN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2014</a:t>
                </a:r>
                <a:r>
                  <a:rPr lang="zh-CN" alt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endParaRPr lang="en-US" altLang="zh-CN" sz="1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公共服务（医疗、教育、福利开支）对于中央和地方政府信任的正向影响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Dickson et al. 2016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社会政策（新农村养老保险）对于政府支持（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Li and Wu; 2018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社会保险增加了农民对于政府支持，对于城市居民无影响（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Gao and Huang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2018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F384C4-69C2-4990-AA70-6639CBBA47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4636" y="1690688"/>
                <a:ext cx="10515600" cy="4351338"/>
              </a:xfrm>
              <a:blipFill>
                <a:blip r:embed="rId3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0593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535CE7-E38E-4061-A854-E25706971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中国的分配政治：再分配偏好</a:t>
            </a:r>
            <a:endParaRPr 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F384C4-69C2-4990-AA70-6639CBBA4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242" y="1567859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再分配偏好来源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社会分隔与再分配偏好（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Huang 2019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国企支持更多再分配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高收入、高教育水平倾向于降低再分配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党员身份显著降低再分配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不平等对于再分配偏好没有影响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大城市居民有更强的再分配偏好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更年长人倾向于更多再分配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336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C6B34-F142-4198-BB34-05AA76EC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第二部分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D4F704-110A-4C7D-94FE-CAD380726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22" y="1340946"/>
            <a:ext cx="10172131" cy="22772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37E57A9-03E3-4BEE-9837-36F977BE0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351" y="3853111"/>
            <a:ext cx="3577298" cy="20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2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27439-A7F8-4B91-BEF4-38B0B9F47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研究问题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3985C0-4B0D-4853-AE81-157C952B17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07678"/>
                <a:ext cx="10515600" cy="333777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个人的政策偏好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内生于</a:t>
                </a: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还是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外生于</a:t>
                </a: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政治制度：</a:t>
                </a:r>
                <a:endPara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政治制度（环境）对于个人再分配偏好的影响</a:t>
                </a:r>
                <a:endPara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对自由市场</a:t>
                </a:r>
                <a:r>
                  <a:rPr lang="en-US" altLang="zh-CN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VS.</a:t>
                </a: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国家干预</a:t>
                </a:r>
                <a:endPara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个人偏好影响制度选择</a:t>
                </a:r>
                <a:r>
                  <a:rPr lang="en-US" altLang="zh-CN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VS.</a:t>
                </a: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制度环境塑造个体偏好</a:t>
                </a:r>
                <a:endPara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宏观 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→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zh-CN" altLang="en-US" sz="2000" b="1" i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微观</m:t>
                    </m:r>
                  </m:oMath>
                </a14:m>
                <a:endPara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宏观政策如何塑造微观个体的行为与偏好</a:t>
                </a:r>
                <a:endPara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国家与社会，国家与市场，国家内部关系</a:t>
                </a:r>
                <a:endPara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宏观：制度、政策、政府行为因素</a:t>
                </a:r>
                <a:endPara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微观：个人和企业的行为与偏好</a:t>
                </a:r>
                <a:endPara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3985C0-4B0D-4853-AE81-157C952B17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07678"/>
                <a:ext cx="10515600" cy="3337778"/>
              </a:xfrm>
              <a:blipFill>
                <a:blip r:embed="rId2"/>
                <a:stretch>
                  <a:fillRect l="-464" t="-3473" b="-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91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7E756-C932-4063-85F6-9B01387E4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理论：个体社会政策偏好来源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7EF47C-BCFF-46DE-BE66-0D1901796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765" y="1457136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自利（经济激励）</a:t>
            </a:r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理性经济人：关心自己的收益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个人收到了社会政策的益处，倾向于支持再分配政策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互惠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政策对于社区、城市乃至地区带来益处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公共物品的供给，增加了对于再分配政策的偏好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利他</a:t>
            </a:r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政策对他人的福祉带来了改善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对社会公平正义的偏好，倾向于增加再分配偏好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041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7E756-C932-4063-85F6-9B01387E4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理论：个体社会政策偏好来源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7EF47C-BCFF-46DE-BE66-0D1901796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428" y="1643655"/>
            <a:ext cx="10515600" cy="2591700"/>
          </a:xfrm>
        </p:spPr>
        <p:txBody>
          <a:bodyPr>
            <a:normAutofit/>
          </a:bodyPr>
          <a:lstStyle/>
          <a:p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制度环境</a:t>
            </a:r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特定的制度环境，塑造了个体的再分配偏好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教导（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indoctrination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教育、宣传等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国家干预：国家政策干预，福利国家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青少年时期，制度的浸染，塑造政策偏好和态度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397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13F339-F18F-489B-9D43-EAC70A0AD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研究背景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DFC98A-6E34-4C6E-99ED-1BAB57E3C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242" y="1696612"/>
            <a:ext cx="10515600" cy="4351338"/>
          </a:xfrm>
        </p:spPr>
        <p:txBody>
          <a:bodyPr/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东德和西德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1945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年，分离为西德和东德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1949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年，德意志联邦共和国和德意志民主共和国成立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1990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年：两德统一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1DD96CC-8255-4FB4-8690-07ECDB315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023" y="1640678"/>
            <a:ext cx="2897040" cy="403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50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78D15-22B6-4FA9-945E-6E3F5A82B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研究背景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7AAA4C-7429-4634-942E-47C7483CB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508009" cy="4351338"/>
          </a:xfrm>
        </p:spPr>
        <p:txBody>
          <a:bodyPr>
            <a:norm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假定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：东西德在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1945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年之前近似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9CCC85-E874-4325-9297-EE608D3F9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987" y="1750588"/>
            <a:ext cx="4256964" cy="23145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0FFD8B2-63C6-4A7E-A687-1B2938110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418" y="4259504"/>
            <a:ext cx="3507162" cy="236043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7607E6C-D0FE-41A2-A317-DD57A1DD5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876" y="2482197"/>
            <a:ext cx="4320917" cy="408229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928647B-8955-4FA2-A287-C611B3F58C5B}"/>
              </a:ext>
            </a:extLst>
          </p:cNvPr>
          <p:cNvSpPr/>
          <p:nvPr/>
        </p:nvSpPr>
        <p:spPr>
          <a:xfrm>
            <a:off x="1123666" y="6176963"/>
            <a:ext cx="4144370" cy="3875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31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BD56B-16BE-4E5D-88FD-C089F26BB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研究背景</a:t>
            </a:r>
            <a:endParaRPr 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46F904-520B-4FA0-8FC7-0225CFC8D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东西德之间的移民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1961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年前：超过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300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万人从东德移民到西德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柏林墙修建于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1961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1961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年后：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60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万人从东德移民到西德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实证挑战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个人的自选择效应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偏好自由市场的个体移民到西德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倾向于国家干预的个体留在了东德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并非制度环境，而非个人自选择， 影响了偏好的差异分布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984747-8188-481D-9DFA-85889175D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360" y="2384946"/>
            <a:ext cx="4387470" cy="300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2F08A-9C82-4995-9E8E-2F39A51C3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研究设计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AC0951-76BA-4F7B-BE04-A5179DB72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708" y="1639106"/>
            <a:ext cx="10515600" cy="1789894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主要数据：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1997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2002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主要因变量：再分配偏好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（对政府干预的态度）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虚拟变量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1(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只有国家、主要是国家 ），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（国家和私人力量、主要是私人力量、只有私人力量）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7BFE671-C77E-4D75-8B7F-2BBB2DFBE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691659"/>
              </p:ext>
            </p:extLst>
          </p:nvPr>
        </p:nvGraphicFramePr>
        <p:xfrm>
          <a:off x="2488442" y="3616779"/>
          <a:ext cx="7586639" cy="26006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586639">
                  <a:extLst>
                    <a:ext uri="{9D8B030D-6E8A-4147-A177-3AD203B41FA5}">
                      <a16:colId xmlns:a16="http://schemas.microsoft.com/office/drawing/2014/main" val="2536689401"/>
                    </a:ext>
                  </a:extLst>
                </a:gridCol>
              </a:tblGrid>
              <a:tr h="386739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目前，诸多社会服务不只是由国家提供，自由市场、组织、协会、私人等也会提供。您认为以下领域谁应该负责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84067"/>
                  </a:ext>
                </a:extLst>
              </a:tr>
              <a:tr h="392110">
                <a:tc>
                  <a:txBody>
                    <a:bodyPr/>
                    <a:lstStyle/>
                    <a:p>
                      <a:r>
                        <a:rPr 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）针对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失业</a:t>
                      </a:r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的经济保障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473652"/>
                  </a:ext>
                </a:extLst>
              </a:tr>
              <a:tr h="392110">
                <a:tc>
                  <a:txBody>
                    <a:bodyPr/>
                    <a:lstStyle/>
                    <a:p>
                      <a:r>
                        <a:rPr 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）针对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疾病</a:t>
                      </a:r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的经济保障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09687"/>
                  </a:ext>
                </a:extLst>
              </a:tr>
              <a:tr h="392110">
                <a:tc>
                  <a:txBody>
                    <a:bodyPr/>
                    <a:lstStyle/>
                    <a:p>
                      <a:r>
                        <a:rPr 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）针对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家庭</a:t>
                      </a:r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的经济保障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040968"/>
                  </a:ext>
                </a:extLst>
              </a:tr>
              <a:tr h="392110">
                <a:tc>
                  <a:txBody>
                    <a:bodyPr/>
                    <a:lstStyle/>
                    <a:p>
                      <a:r>
                        <a:rPr 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）针对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老龄</a:t>
                      </a:r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的经济保障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939739"/>
                  </a:ext>
                </a:extLst>
              </a:tr>
              <a:tr h="392110">
                <a:tc>
                  <a:txBody>
                    <a:bodyPr/>
                    <a:lstStyle/>
                    <a:p>
                      <a:r>
                        <a:rPr 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）针对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需照护人群</a:t>
                      </a:r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的经济保障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583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8374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2F08A-9C82-4995-9E8E-2F39A51C3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研究设计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AC0951-76BA-4F7B-BE04-A5179DB72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962" y="1229671"/>
            <a:ext cx="10515600" cy="2700883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因变量：幸运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没有人可以逃脱命运，生活中的一切发生是因为必须发生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人生中的成就主要是由于幸运和命运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（完全或部分同意），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（不同意或者部分不同意）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因变量：社会条件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人生的可能性是由社会条件决定的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（完全或部分同意），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（不同意或者部分不同意）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DD1D1A9-3C54-4715-88B2-D87C7A0555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9020" y="4093643"/>
                <a:ext cx="10515600" cy="26326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自变量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：</a:t>
                </a:r>
                <a:endPara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在统一（</a:t>
                </a:r>
                <a:r>
                  <a:rPr lang="en-US" altLang="zh-CN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1990</a:t>
                </a:r>
                <a:r>
                  <a:rPr lang="zh-CN" alt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）之前是否居住在东德</a:t>
                </a:r>
                <a:endParaRPr lang="en-US" altLang="zh-CN" sz="1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测度共产主义制度</a:t>
                </a:r>
                <a:endParaRPr lang="en-US" altLang="zh-CN" sz="1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东德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𝟐𝟎𝟎𝟐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年</m:t>
                    </m:r>
                  </m:oMath>
                </a14:m>
                <a:endPara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测度在市场经济经历更久后， 个体观念的变化</a:t>
                </a:r>
                <a:endParaRPr lang="en-US" altLang="zh-CN" sz="1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/>
                <a:endParaRPr lang="en-US" sz="20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DD1D1A9-3C54-4715-88B2-D87C7A055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20" y="4093643"/>
                <a:ext cx="10515600" cy="2632644"/>
              </a:xfrm>
              <a:prstGeom prst="rect">
                <a:avLst/>
              </a:prstGeom>
              <a:blipFill>
                <a:blip r:embed="rId2"/>
                <a:stretch>
                  <a:fillRect l="-522" t="-2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60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D139DD-BDBF-46FA-B8FE-64FD5E5D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实证结果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66440E-2CD6-4DA8-BCB8-D75FC375D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474" y="1536176"/>
            <a:ext cx="4508311" cy="1204178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东德经历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显著增加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了对国家干预的偏好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随着时间的增加，有东德经历的个体，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显著降低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了对国家干预的偏好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12FF0E-EA1E-4328-98FF-9C8DE1557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785" y="1438459"/>
            <a:ext cx="5983625" cy="480674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81B371C-3717-4869-8F5F-F36F53B0B206}"/>
              </a:ext>
            </a:extLst>
          </p:cNvPr>
          <p:cNvSpPr/>
          <p:nvPr/>
        </p:nvSpPr>
        <p:spPr>
          <a:xfrm>
            <a:off x="6164239" y="1973454"/>
            <a:ext cx="4144370" cy="2511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C912D3-DC84-48EC-8467-AC41AF6CDE70}"/>
              </a:ext>
            </a:extLst>
          </p:cNvPr>
          <p:cNvSpPr/>
          <p:nvPr/>
        </p:nvSpPr>
        <p:spPr>
          <a:xfrm>
            <a:off x="6205183" y="2448851"/>
            <a:ext cx="4144370" cy="2511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89B99D7-4EA9-4F70-ADFA-8F2AEDFB4222}"/>
              </a:ext>
            </a:extLst>
          </p:cNvPr>
          <p:cNvSpPr txBox="1">
            <a:spLocks/>
          </p:cNvSpPr>
          <p:nvPr/>
        </p:nvSpPr>
        <p:spPr>
          <a:xfrm>
            <a:off x="121474" y="2916896"/>
            <a:ext cx="4824485" cy="15758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生活在共产主义个体更偏好国家干预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生活在市场经济降低了个体对国家干预偏好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历史上的强国家干预：普鲁士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控制了普鲁士地区虚拟变量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E004EED-4F4C-4242-AA7D-3400E73DC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570" y="4797362"/>
            <a:ext cx="2620311" cy="181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4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CE2CA1-6D0D-4D9B-8237-D0A27CFE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实证结果：年龄（经历时长）效应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0F42CC-637B-4F04-9DA4-27648B9D7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32" y="2068110"/>
            <a:ext cx="5472752" cy="2494791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东德与年龄的交叉项正向且显著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随着年龄增加，降低了对国家干预支持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东德经历个体，年龄越大，对国家干预越支持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年龄代表了在制度环境里浸染的时长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时长越大，代表受到制度的影响越深远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9C2298-E547-4EB9-BA1B-98AAAE34F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83" y="1825625"/>
            <a:ext cx="6930732" cy="273727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716DC39-B4B5-4B2F-8FD6-CA3088431428}"/>
              </a:ext>
            </a:extLst>
          </p:cNvPr>
          <p:cNvSpPr/>
          <p:nvPr/>
        </p:nvSpPr>
        <p:spPr>
          <a:xfrm>
            <a:off x="6896669" y="3830472"/>
            <a:ext cx="4945038" cy="3502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7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CE2CA1-6D0D-4D9B-8237-D0A27CFE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实证结果：不同代际效应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0F42CC-637B-4F04-9DA4-27648B9D7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40" y="1837840"/>
            <a:ext cx="4699379" cy="168502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东德与不同代际虚拟变量做交叉分析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对照组：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1975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年以后出生（受到最少影响）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1945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年之前出生的个体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，在东德经历，更倾向于支持国家干预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0122B2-B73C-42F1-ACC4-8D3DE3E98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523" y="1838372"/>
            <a:ext cx="6855695" cy="3984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CB61DF8-A906-42EF-ACDF-3D6E58EED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24" y="4177648"/>
            <a:ext cx="3499694" cy="236872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29EA562-2664-4213-91EA-3868548B775F}"/>
              </a:ext>
            </a:extLst>
          </p:cNvPr>
          <p:cNvSpPr/>
          <p:nvPr/>
        </p:nvSpPr>
        <p:spPr>
          <a:xfrm>
            <a:off x="6408762" y="4476465"/>
            <a:ext cx="4945038" cy="108727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4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8FC3E-F847-47C2-B202-22CA5901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实证结果：自利效果</a:t>
            </a:r>
            <a:endParaRPr 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F8A3C4-7E85-4330-97D5-CC0DE3321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10" y="2908347"/>
            <a:ext cx="3976048" cy="18547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方法：两阶段回归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直接收到政府转移支付，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显著增加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了对国家干预的支持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低收入家庭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更支持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国家干预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A5148A-2380-4527-ACA4-62687D1E4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130" y="2360661"/>
            <a:ext cx="7224215" cy="252958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A74E4B0-A1DB-4D87-97FC-79457279D549}"/>
              </a:ext>
            </a:extLst>
          </p:cNvPr>
          <p:cNvSpPr/>
          <p:nvPr/>
        </p:nvSpPr>
        <p:spPr>
          <a:xfrm>
            <a:off x="6567986" y="4136305"/>
            <a:ext cx="4945038" cy="3492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4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8FC3E-F847-47C2-B202-22CA5901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实证结果：互惠效果</a:t>
            </a:r>
            <a:endParaRPr 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F8A3C4-7E85-4330-97D5-CC0DE3321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771" y="3158556"/>
            <a:ext cx="4109279" cy="18547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地区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收到更多政府转移支付，</a:t>
            </a:r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显著增加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了对国家干预的支持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25%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的东德效应，归功于地区转移支付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C5BEFA5-850E-4777-BD31-0E2076ADE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776" y="2130525"/>
            <a:ext cx="7354842" cy="252336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F2B7D33-8C6E-4A12-A10D-3C0A901D8193}"/>
              </a:ext>
            </a:extLst>
          </p:cNvPr>
          <p:cNvSpPr/>
          <p:nvPr/>
        </p:nvSpPr>
        <p:spPr>
          <a:xfrm>
            <a:off x="6331425" y="3945236"/>
            <a:ext cx="5296468" cy="3492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0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8FC3E-F847-47C2-B202-22CA5901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实证结果：移民</a:t>
            </a:r>
            <a:endParaRPr 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F8A3C4-7E85-4330-97D5-CC0DE3321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04" y="2237060"/>
            <a:ext cx="4121625" cy="18547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东德到西德移民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未移民东德居民，更强支持国家干预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解释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：自选择，偏好自由市场的移民西德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解释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：移民西德的个体， 有更快观点融合速度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D7BD90-18C6-46AF-B88B-5411F70EA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231" y="1985375"/>
            <a:ext cx="7942997" cy="309761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8005CCD-898C-4E3E-ABDD-53672E7C70A5}"/>
              </a:ext>
            </a:extLst>
          </p:cNvPr>
          <p:cNvSpPr/>
          <p:nvPr/>
        </p:nvSpPr>
        <p:spPr>
          <a:xfrm>
            <a:off x="6240439" y="3254370"/>
            <a:ext cx="5737745" cy="3492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45D1DD-89F2-45EA-9BEE-E98F7FCF95A1}"/>
              </a:ext>
            </a:extLst>
          </p:cNvPr>
          <p:cNvSpPr/>
          <p:nvPr/>
        </p:nvSpPr>
        <p:spPr>
          <a:xfrm>
            <a:off x="6168788" y="3945236"/>
            <a:ext cx="5809395" cy="7268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1F291853-CE0F-4A91-9481-BBC59CB05105}"/>
              </a:ext>
            </a:extLst>
          </p:cNvPr>
          <p:cNvSpPr txBox="1">
            <a:spLocks/>
          </p:cNvSpPr>
          <p:nvPr/>
        </p:nvSpPr>
        <p:spPr>
          <a:xfrm>
            <a:off x="0" y="3896626"/>
            <a:ext cx="4121625" cy="1854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2002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年做交叉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移民西德的个体 ，随着时间流逝，更倾向于支持国家干预（不显著）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1598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0" animBg="1"/>
      <p:bldP spid="10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8FC3E-F847-47C2-B202-22CA5901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实证结果：东德地区异质性</a:t>
            </a:r>
            <a:endParaRPr 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F8A3C4-7E85-4330-97D5-CC0DE3321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771" y="3158556"/>
            <a:ext cx="4430701" cy="18547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东德效应在东德不同地区呈现异质性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对再分配偏好的收敛，在不同地区呈现异质性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9B6D7D-9433-467F-B7B4-B9A84A8D7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457" y="1604252"/>
            <a:ext cx="6577358" cy="483176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600A116-F042-49F6-8ABB-9BE01EED2DFA}"/>
              </a:ext>
            </a:extLst>
          </p:cNvPr>
          <p:cNvSpPr/>
          <p:nvPr/>
        </p:nvSpPr>
        <p:spPr>
          <a:xfrm>
            <a:off x="6710149" y="2393940"/>
            <a:ext cx="4763069" cy="1741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414D6E-4173-4F12-8315-EE45DAD86DFA}"/>
              </a:ext>
            </a:extLst>
          </p:cNvPr>
          <p:cNvSpPr/>
          <p:nvPr/>
        </p:nvSpPr>
        <p:spPr>
          <a:xfrm>
            <a:off x="6766577" y="5207653"/>
            <a:ext cx="4763069" cy="8565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51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0" animBg="1"/>
      <p:bldP spid="10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1791C-46BE-4475-9D93-5D439E98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实证结果：社会条件</a:t>
            </a:r>
            <a:endParaRPr 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83B1D0-CCA1-4764-9C05-5AAF9982D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79" y="2817362"/>
            <a:ext cx="5023515" cy="22141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社会条件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：人生的可能性是由社会条件决定的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东德居民更倾向于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社会重要性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更年长的东德居民更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社会重要性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社会条件显著增加了对国家干预的支持</a:t>
            </a:r>
          </a:p>
          <a:p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62A6EA-9B11-43CB-ACB0-08CD993A6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236" y="2007114"/>
            <a:ext cx="5836692" cy="14500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1D05D8-5C15-4EBF-A1A3-E4BCCD3A0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385" y="3828214"/>
            <a:ext cx="6132394" cy="247821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562AAD4-299D-47CF-BA63-DDBD3AD1A742}"/>
              </a:ext>
            </a:extLst>
          </p:cNvPr>
          <p:cNvSpPr/>
          <p:nvPr/>
        </p:nvSpPr>
        <p:spPr>
          <a:xfrm>
            <a:off x="8857398" y="2628030"/>
            <a:ext cx="995149" cy="3116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23F546-FDCD-45FF-9330-1FBFA7837C4B}"/>
              </a:ext>
            </a:extLst>
          </p:cNvPr>
          <p:cNvSpPr/>
          <p:nvPr/>
        </p:nvSpPr>
        <p:spPr>
          <a:xfrm>
            <a:off x="10292688" y="2939654"/>
            <a:ext cx="995149" cy="2628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3E23DC-1A25-4972-987A-04F4B945FAB8}"/>
              </a:ext>
            </a:extLst>
          </p:cNvPr>
          <p:cNvSpPr/>
          <p:nvPr/>
        </p:nvSpPr>
        <p:spPr>
          <a:xfrm>
            <a:off x="7235589" y="5505433"/>
            <a:ext cx="4326339" cy="3403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7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1791C-46BE-4475-9D93-5D439E98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实证结果：运气</a:t>
            </a:r>
            <a:endParaRPr 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83B1D0-CCA1-4764-9C05-5AAF9982D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37" y="2817362"/>
            <a:ext cx="5454556" cy="221411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运气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命运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：人生中的成就主要是由于幸运和命运</a:t>
            </a: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东德居民更倾向于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不支持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运气重要性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更年长的东德居民更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运气重要性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对宿命论的支持，显著增加对国家干预支持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相信个人努力决定成功，反对政府分配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3545A4F-F57E-4147-995E-E10ABF002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294" y="1964843"/>
            <a:ext cx="6651009" cy="14641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310E177-5B67-4414-9390-FE1E46ACC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417" y="3770227"/>
            <a:ext cx="6401938" cy="221411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703ACB0-9C16-4B4C-9C8C-25C966673113}"/>
              </a:ext>
            </a:extLst>
          </p:cNvPr>
          <p:cNvSpPr/>
          <p:nvPr/>
        </p:nvSpPr>
        <p:spPr>
          <a:xfrm>
            <a:off x="8857398" y="2628030"/>
            <a:ext cx="995149" cy="3116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BD12A7-1799-45A0-9D33-63380880C047}"/>
              </a:ext>
            </a:extLst>
          </p:cNvPr>
          <p:cNvSpPr/>
          <p:nvPr/>
        </p:nvSpPr>
        <p:spPr>
          <a:xfrm>
            <a:off x="10511052" y="2889612"/>
            <a:ext cx="995149" cy="31162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09D9CF-DAA0-41E3-B353-1BFE588F955E}"/>
              </a:ext>
            </a:extLst>
          </p:cNvPr>
          <p:cNvSpPr/>
          <p:nvPr/>
        </p:nvSpPr>
        <p:spPr>
          <a:xfrm>
            <a:off x="7149153" y="5299881"/>
            <a:ext cx="4628865" cy="3501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3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5D0C1-E3E5-44F8-93B4-C7EF12FB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总结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9F062C-0540-43A3-800D-E5C275845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25" y="2075835"/>
            <a:ext cx="10515600" cy="24370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个人所生活（过）的政治制度环境，塑造了个体对国家干预态度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社会主义制度下的个体，更倾向于支持国家干预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生活在社会主义制度体系下越长，越倾向于支持国家干预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德国统一后，生活在市场经济体系下，使得东德民众再分配观点与西德民众接近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5404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5D0C1-E3E5-44F8-93B4-C7EF12FB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拓展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9F062C-0540-43A3-800D-E5C275845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可能的议题：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政府再分配政策 → 再分配偏好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历史事件→ 再分配偏好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不同代际→ 再分配偏好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市场转型→ 再分配偏好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文化→ 再分配偏好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4403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C6B34-F142-4198-BB34-05AA76EC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第三部分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68466A-DE7A-4428-A929-9FD0264D5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76" y="2249944"/>
            <a:ext cx="9712657" cy="243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369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67B06-0963-4D88-8FAB-483385349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研究问题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92DB83-BCE3-4758-A523-1F31E38F2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3521"/>
          </a:xfrm>
        </p:spPr>
        <p:txBody>
          <a:bodyPr/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收入不平等与再分配文献：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收入与再分配负向关联：穷人相比富人，有更高的再分配偏好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收入与再分配负向关联可能不存在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本文：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将收入不平等的负外部性纳入分析框架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不平等带来更大负外部性时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，高不平等情况下，富人会支持再分配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4484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13ECE-09E3-46AC-8906-1A5781098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理论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F03C0B-3AE8-42DA-92F2-9C46F71B1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233"/>
            <a:ext cx="10515600" cy="4720751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一般理论假设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个人在收入分配中的位置，决定再分配的偏好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Romer-Meltzer-Richard (RMR)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模型：中间选民决定政府的政策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低收入者（低于平均值）支持提高税率（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100%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高收入者（高于平均值）支持降低税率（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0%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更高不平等与更多再分配相联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问题（挑战）：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不同群体信息不完全，不一定会认知自身收入位置，不一定会将不平等与再分配相联系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更侧重于宏观比较分析，缺乏微观个体分析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一些研究发现，更少市场不平等，与更多再分配相关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559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13ECE-09E3-46AC-8906-1A5781098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理论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F03C0B-3AE8-42DA-92F2-9C46F71B1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648" y="1379798"/>
            <a:ext cx="10515600" cy="453552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穷人与富人偏好差异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3B7BBF8-A163-40AC-AED9-E14EC7E27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468172"/>
              </p:ext>
            </p:extLst>
          </p:nvPr>
        </p:nvGraphicFramePr>
        <p:xfrm>
          <a:off x="1255592" y="2293734"/>
          <a:ext cx="9291090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003344">
                  <a:extLst>
                    <a:ext uri="{9D8B030D-6E8A-4147-A177-3AD203B41FA5}">
                      <a16:colId xmlns:a16="http://schemas.microsoft.com/office/drawing/2014/main" val="3776272928"/>
                    </a:ext>
                  </a:extLst>
                </a:gridCol>
                <a:gridCol w="2190716">
                  <a:extLst>
                    <a:ext uri="{9D8B030D-6E8A-4147-A177-3AD203B41FA5}">
                      <a16:colId xmlns:a16="http://schemas.microsoft.com/office/drawing/2014/main" val="16284786"/>
                    </a:ext>
                  </a:extLst>
                </a:gridCol>
                <a:gridCol w="3097030">
                  <a:extLst>
                    <a:ext uri="{9D8B030D-6E8A-4147-A177-3AD203B41FA5}">
                      <a16:colId xmlns:a16="http://schemas.microsoft.com/office/drawing/2014/main" val="791236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穷人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富人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724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对短期税收和转移支付在乎程度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1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时间视野（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time horizon</a:t>
                      </a:r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短期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长期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230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收到福利的重要性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重要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不重要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285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对再分配政策的偏好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</a:t>
                      </a:r>
                      <a:endParaRPr 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130358"/>
                  </a:ext>
                </a:extLst>
              </a:tr>
            </a:tbl>
          </a:graphicData>
        </a:graphic>
      </p:graphicFrame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E4BF81B-A446-4129-991D-1CC92F878C31}"/>
              </a:ext>
            </a:extLst>
          </p:cNvPr>
          <p:cNvSpPr txBox="1">
            <a:spLocks/>
          </p:cNvSpPr>
          <p:nvPr/>
        </p:nvSpPr>
        <p:spPr>
          <a:xfrm>
            <a:off x="1628632" y="4696204"/>
            <a:ext cx="5454556" cy="1650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2001-2005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，西欧</a:t>
            </a: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转移支付等福利，占最低收入人群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71.7%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收入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税收，占富人收入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27.7%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8758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3E53A-5E41-43C0-A8E8-7F099806A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理论</a:t>
            </a:r>
            <a:endParaRPr lang="en-US" sz="3200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7C8BC4C9-69D7-4CDF-AA5A-EC26D6E64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7565" y="1795320"/>
            <a:ext cx="5024473" cy="43513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418CA27-168E-442F-BA66-32B782FB761F}"/>
              </a:ext>
            </a:extLst>
          </p:cNvPr>
          <p:cNvSpPr/>
          <p:nvPr/>
        </p:nvSpPr>
        <p:spPr>
          <a:xfrm>
            <a:off x="1245516" y="1979641"/>
            <a:ext cx="2276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穷人与富人偏好差异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4E7534E8-C723-43F9-B184-BCA201F442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4608" y="2637926"/>
                <a:ext cx="5454556" cy="24981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ts val="500"/>
                  </a:spcBef>
                </a:pPr>
                <a:r>
                  <a:rPr lang="zh-CN" altLang="en-US" sz="18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整体而言，高收入不平等，增加再分配偏好</a:t>
                </a:r>
                <a:endParaRPr lang="en-US" altLang="zh-CN" sz="18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500"/>
                  </a:spcBef>
                </a:pPr>
                <a:r>
                  <a:rPr lang="zh-CN" altLang="en-US" sz="18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穷人：不同收入不平等水平带来再分配差异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有限</a:t>
                </a:r>
                <a:endParaRPr lang="en-US" altLang="zh-CN" sz="1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indent="0" algn="ctr">
                  <a:lnSpc>
                    <a:spcPct val="150000"/>
                  </a:lnSpc>
                  <a:spcBef>
                    <a:spcPts val="50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R</a:t>
                </a:r>
                <a:r>
                  <a: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v</m:t>
                        </m:r>
                      </m:e>
                      <m:sub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</m:t>
                        </m:r>
                      </m:sub>
                    </m:sSub>
                    <m:r>
                      <a:rPr lang="en-US" altLang="zh-CN" sz="18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Sup>
                      <m:sSubSup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SupPr>
                      <m:e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𝒋</m:t>
                        </m:r>
                      </m:sub>
                      <m:sup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1800" b="1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1800" b="1" dirty="0" smtClean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zh-CN" altLang="en-US" sz="1800" b="1" dirty="0" smtClean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（</m:t>
                    </m:r>
                    <m:sSub>
                      <m:sSub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v</m:t>
                        </m:r>
                      </m:e>
                      <m:sub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</m:t>
                        </m:r>
                      </m:sub>
                    </m:sSub>
                    <m:r>
                      <a:rPr lang="en-US" altLang="zh-CN" sz="18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500"/>
                  </a:spcBef>
                </a:pPr>
                <a:r>
                  <a:rPr lang="zh-CN" altLang="en-US" sz="18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富人：不同收入不平等水平带来再分配差异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较大</a:t>
                </a:r>
                <a:endParaRPr lang="en-US" altLang="zh-CN" sz="1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indent="0" algn="ctr">
                  <a:lnSpc>
                    <a:spcPct val="150000"/>
                  </a:lnSpc>
                  <a:spcBef>
                    <a:spcPts val="500"/>
                  </a:spcBef>
                  <a:buNone/>
                </a:pP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sz="17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zh-CN" altLang="en-US" sz="17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7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17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v</m:t>
                        </m:r>
                      </m:e>
                      <m:sub>
                        <m:r>
                          <a:rPr lang="en-US" altLang="zh-CN" sz="17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</m:t>
                        </m:r>
                      </m:sub>
                      <m:sup>
                        <m:r>
                          <a:rPr lang="en-US" altLang="zh-CN" sz="17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′</m:t>
                        </m:r>
                      </m:sup>
                    </m:sSubSup>
                    <m:r>
                      <a:rPr lang="en-US" altLang="zh-CN" sz="17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Sup>
                      <m:sSub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Sup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𝒋</m:t>
                        </m:r>
                      </m:sub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sz="17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1700" b="1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1700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zh-CN" altLang="en-US" sz="1700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（</m:t>
                    </m:r>
                    <m:sSubSup>
                      <m:sSubSupPr>
                        <m:ctrlPr>
                          <a:rPr lang="en-US" altLang="zh-CN" sz="17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17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v</m:t>
                        </m:r>
                      </m:e>
                      <m:sub>
                        <m:r>
                          <a:rPr lang="en-US" altLang="zh-CN" sz="17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</m:t>
                        </m:r>
                      </m:sub>
                      <m:sup>
                        <m:r>
                          <a:rPr lang="en-US" altLang="zh-CN" sz="1700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′</m:t>
                        </m:r>
                      </m:sup>
                    </m:sSubSup>
                    <m:r>
                      <a:rPr lang="en-US" altLang="zh-CN" sz="17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7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7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17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17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4E7534E8-C723-43F9-B184-BCA201F44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608" y="2637926"/>
                <a:ext cx="5454556" cy="2498181"/>
              </a:xfrm>
              <a:prstGeom prst="rect">
                <a:avLst/>
              </a:prstGeom>
              <a:blipFill>
                <a:blip r:embed="rId3"/>
                <a:stretch>
                  <a:fillRect l="-670" b="-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8762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5BDEB-26E1-4096-83A6-E9F193C52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理论</a:t>
            </a:r>
            <a:endParaRPr 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5728B-1918-4FCB-8BD9-C9A360BCD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42494"/>
          </a:xfrm>
        </p:spPr>
        <p:txBody>
          <a:bodyPr/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犯罪率与收入不平等正相关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高不平等，穷人犯罪收益增大，机会成本降低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高不平等，使得富人担心犯罪的负外部性，变得更支持再分配</a:t>
            </a:r>
            <a:endParaRPr lang="en-US" altLang="zh-CN" sz="1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潜在假设：再分配政策有助于缓解不平等，改善穷人境况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高不平等，富人要求更高的安全保护，富人对犯罪更敏感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例子：芝加哥南部地区房租与犯罪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34058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83DCD-CCD7-4A8B-B48F-65F0FD142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1078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研究设计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E791FB-E59C-4892-8657-1524842B2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625"/>
            <a:ext cx="10515600" cy="532125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数据：欧洲社会调查（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ESS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2002-2009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个国家，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129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个地区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因变量：再分配偏好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政府应该采取措施，缩小收入差距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-5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量表，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表示强烈支持、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自变量：相对收入（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income distance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个人的收入，减去所在国家当年平均收入（可比收入，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PPP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自变量：犯罪（感知）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是否担心在晚上独自走路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-4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，从非常安全到非常不安全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自变量：不平等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地区的基尼系数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D86A63-05C7-44B6-AEE8-581EBC002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390" y="1807276"/>
            <a:ext cx="5663178" cy="476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015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5E5F4-5E43-4030-A681-F9605E680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研究设计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4643BE-8CBB-483B-A413-62AFD1E79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76" y="2165720"/>
            <a:ext cx="4503283" cy="316373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0300706-94AB-46E7-A971-71AC78C1D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244" y="3788427"/>
            <a:ext cx="4990531" cy="2760224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4C331AC-E93E-466A-9C21-FD01DD231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899" y="1607260"/>
            <a:ext cx="5900382" cy="30102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：穷人比富人，更在乎再分配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C: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不同地区存在着较大的收入不平等和对犯罪恐惧  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例子：英国（不平等和犯罪恐惧均高）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瑞典（不平等和犯罪恐惧均低）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</a:p>
          <a:p>
            <a:pPr marL="0" indent="0">
              <a:buNone/>
            </a:pP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48362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E55A9-9EB5-42D0-ADC2-E85EBD70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主要结果：收入、不平等与再分配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E7980E-C769-4DEF-B868-146E56BB6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47" y="2376085"/>
            <a:ext cx="5912893" cy="25917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方法：定序回归模型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收入差距越大（富人），越倾向于不支持再分配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收入不平等增加对再分配的支持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收入差距与不平等交叉系数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正向而且显著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不平等程度越高，富人越倾向于支持再分配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680065-51AC-4877-8AFA-BCEB12D72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818" y="1690688"/>
            <a:ext cx="5512386" cy="430694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72D4A26-6D42-49C0-8D49-8FC57FA69CF4}"/>
              </a:ext>
            </a:extLst>
          </p:cNvPr>
          <p:cNvSpPr/>
          <p:nvPr/>
        </p:nvSpPr>
        <p:spPr>
          <a:xfrm>
            <a:off x="8484359" y="2791803"/>
            <a:ext cx="995149" cy="1788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0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D359D8-0F2E-4FB7-86E5-7AFD7835F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主要结果：收入、不平等与再分配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05E3CC-EBD2-4888-AD5A-B58182FD6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280" y="4126550"/>
            <a:ext cx="6264323" cy="23139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B3DC555-2608-449E-86AC-8521D8B9A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919" y="1563224"/>
            <a:ext cx="3950878" cy="2464508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E89F1A9-5753-4363-AA5E-97C8BBC23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76085"/>
            <a:ext cx="5912893" cy="22505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高不平等（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90%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）和低不平等（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10%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）情况下，收入差距对于再分配支持的影响，验证了主要理论假设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稳健性检验：控制国家和年份固定效应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收入不平等不显著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收入差距与不平等交叉，正向且显著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24874D-341D-4AE1-9A1F-71495154B3C3}"/>
              </a:ext>
            </a:extLst>
          </p:cNvPr>
          <p:cNvSpPr/>
          <p:nvPr/>
        </p:nvSpPr>
        <p:spPr>
          <a:xfrm>
            <a:off x="9662616" y="6026322"/>
            <a:ext cx="995149" cy="4141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67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3F341C-3BB7-425B-A43D-91C93D774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主要结果：收入、不平等与再分配</a:t>
            </a:r>
            <a:endParaRPr 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98B481-0DA8-42C9-8B2F-629D6C6DB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736" y="1857470"/>
            <a:ext cx="5360807" cy="4351338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不平等由低到高时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穷人对再分配偏好从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26%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28%</a:t>
            </a: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富人对再分配偏好从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17%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23%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不平等的边际效应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富人，不平等对于再分配边际效应，</a:t>
            </a:r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正向显著</a:t>
            </a:r>
            <a:endParaRPr lang="en-US" altLang="zh-CN" sz="1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穷人，不平等对于再分配边际效应，</a:t>
            </a:r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正向不显著</a:t>
            </a:r>
            <a:endParaRPr lang="en-US" altLang="zh-CN" sz="1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788C90-326A-4B13-B6F4-9E537718E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457" y="2376460"/>
            <a:ext cx="5730434" cy="154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468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A4C880-A7C7-4105-926F-D3D2D51A3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主要结果：收入、不平等与再分配</a:t>
            </a:r>
            <a:endParaRPr lang="en-US" sz="3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101A45-F490-4B62-B189-A6BC9BC7B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77" y="2051688"/>
            <a:ext cx="5798214" cy="3928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CD317DA-4AE1-4528-9E17-49CB6AC4AE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8414" y="2289650"/>
                <a:ext cx="5239604" cy="211402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按照国家进行分组回归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Panel A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使用样本的收入比例对于穷人富人分类</a:t>
                </a:r>
                <a:endPara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Panel A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使用所在国家的收入对于穷人富人分类</a:t>
                </a:r>
                <a:endPara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不平等对于再分配的边际效应，富人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穷人</m:t>
                    </m:r>
                  </m:oMath>
                </a14:m>
                <a:endParaRPr lang="en-US" sz="16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1"/>
                <a:endParaRPr lang="en-US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CD317DA-4AE1-4528-9E17-49CB6AC4AE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8414" y="2289650"/>
                <a:ext cx="5239604" cy="2114028"/>
              </a:xfrm>
              <a:blipFill>
                <a:blip r:embed="rId3"/>
                <a:stretch>
                  <a:fillRect l="-1048" t="-3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281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DFAB6-8B3E-45D5-86DE-D689C5505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机制：对犯罪的恐惧</a:t>
            </a:r>
            <a:endParaRPr 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069E52-131B-4AB9-B31F-66E45AB60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022"/>
            <a:ext cx="10515600" cy="2373336"/>
          </a:xfrm>
        </p:spPr>
        <p:txBody>
          <a:bodyPr/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分析模型：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Heckman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两阶段模型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C85A49-8513-4FAF-848B-045E920E2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912" y="2008758"/>
            <a:ext cx="6228867" cy="1585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F7AF2AB-D812-4EAA-8D8C-0C8B1664AA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52765" y="3993415"/>
                <a:ext cx="9543200" cy="13247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8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第一阶段</a:t>
                </a:r>
                <a:r>
                  <a:rPr lang="zh-CN" alt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：犯罪恐惧（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i</m:t>
                        </m:r>
                      </m:sub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）为因变量，收入差距（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v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𝑣</m:t>
                        </m:r>
                      </m:e>
                    </m:acc>
                  </m:oMath>
                </a14:m>
                <a:r>
                  <a:rPr lang="zh-CN" alt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）、不平等（</a:t>
                </a:r>
                <a:r>
                  <a:rPr lang="en-US" altLang="zh-CN" sz="1800" b="1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𝒋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</m:oMath>
                </a14:m>
                <a:r>
                  <a:rPr lang="zh-CN" alt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）为自变量</a:t>
                </a:r>
                <a:endParaRPr lang="en-US" altLang="zh-CN" sz="1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18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第二阶段</a:t>
                </a:r>
                <a:r>
                  <a:rPr lang="zh-CN" alt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：再分配偏好（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i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）为因变量，犯罪、收入差距、不平等为自变量</a:t>
                </a:r>
                <a:endParaRPr lang="en-US" altLang="zh-CN" sz="1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zh-CN" altLang="en-US" sz="1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       收入差距与犯罪、收入差距与不平等的交叉变量分析</a:t>
                </a:r>
                <a:endParaRPr lang="en-US" sz="1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F7AF2AB-D812-4EAA-8D8C-0C8B1664A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765" y="3993415"/>
                <a:ext cx="9543200" cy="1324733"/>
              </a:xfrm>
              <a:prstGeom prst="rect">
                <a:avLst/>
              </a:prstGeom>
              <a:blipFill>
                <a:blip r:embed="rId4"/>
                <a:stretch>
                  <a:fillRect l="-383" t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958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CC1DD-790B-42B2-A03E-30B4A0602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机制：对犯罪的恐惧</a:t>
            </a:r>
            <a:endParaRPr lang="en-US" sz="3200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485BFD2-F660-407C-A096-A1CA298E5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6077" y="2342865"/>
            <a:ext cx="6548542" cy="3542945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BED4E76-D9C7-4751-85A0-79DECC0B4AF1}"/>
              </a:ext>
            </a:extLst>
          </p:cNvPr>
          <p:cNvSpPr txBox="1">
            <a:spLocks/>
          </p:cNvSpPr>
          <p:nvPr/>
        </p:nvSpPr>
        <p:spPr>
          <a:xfrm>
            <a:off x="442413" y="2687779"/>
            <a:ext cx="4971199" cy="2484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第一阶段模型（犯罪恐惧因变量）：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过去犯罪受害者经历增加对犯罪的恐惧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收入不平等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增加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对犯罪恐惧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收入差距（富人）有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更低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的犯罪恐惧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C45D34-8A9F-46C2-B451-9644C3E29525}"/>
              </a:ext>
            </a:extLst>
          </p:cNvPr>
          <p:cNvSpPr/>
          <p:nvPr/>
        </p:nvSpPr>
        <p:spPr>
          <a:xfrm>
            <a:off x="7820168" y="3155743"/>
            <a:ext cx="1214650" cy="4141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4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CC1DD-790B-42B2-A03E-30B4A0602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机制：对犯罪的恐惧</a:t>
            </a:r>
            <a:endParaRPr lang="en-US" sz="32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BED4E76-D9C7-4751-85A0-79DECC0B4AF1}"/>
              </a:ext>
            </a:extLst>
          </p:cNvPr>
          <p:cNvSpPr txBox="1">
            <a:spLocks/>
          </p:cNvSpPr>
          <p:nvPr/>
        </p:nvSpPr>
        <p:spPr>
          <a:xfrm>
            <a:off x="0" y="2746920"/>
            <a:ext cx="5904931" cy="2484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第二阶段模型（再分配偏好因变量）：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收入差距（富人）与不平等交叉效应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正向显著</a:t>
            </a:r>
            <a:endParaRPr lang="en-US" altLang="zh-CN" sz="18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富人在不平等升高的时候，更容易支持再分配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收入差距（富人）与犯罪恐惧交叉效应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正向显著</a:t>
            </a:r>
            <a:endParaRPr lang="en-US" altLang="zh-CN" sz="18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富人对于犯罪的恐惧，使其更支持再分配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28BFF3E-F3EC-4622-82F8-B78901615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774" y="1834824"/>
            <a:ext cx="5434996" cy="403143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37E33FB-3C1C-467F-9D24-B089A4151331}"/>
              </a:ext>
            </a:extLst>
          </p:cNvPr>
          <p:cNvSpPr/>
          <p:nvPr/>
        </p:nvSpPr>
        <p:spPr>
          <a:xfrm>
            <a:off x="8093124" y="2480710"/>
            <a:ext cx="1214650" cy="2070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949C51-4957-4C52-AE04-DEBC141C38C1}"/>
              </a:ext>
            </a:extLst>
          </p:cNvPr>
          <p:cNvSpPr/>
          <p:nvPr/>
        </p:nvSpPr>
        <p:spPr>
          <a:xfrm>
            <a:off x="8093124" y="2831915"/>
            <a:ext cx="1214650" cy="2070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1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2042AB-0CBE-410F-8D9A-7B9FB02B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机制：对犯罪的恐惧</a:t>
            </a:r>
            <a:endParaRPr 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82F988-06CE-4B9D-9B22-982412BDC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92" y="2987052"/>
            <a:ext cx="5331725" cy="20184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控制国家和年份固定效应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收入与不平等交叉效应正向显著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未显示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犯罪恐惧与收入交叉效应（问题）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1E72C1-04D2-41A7-873C-0834E82C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29" y="1613213"/>
            <a:ext cx="5932971" cy="451640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CBDB1D-01F0-4D0C-B44A-DD450660A19A}"/>
              </a:ext>
            </a:extLst>
          </p:cNvPr>
          <p:cNvSpPr/>
          <p:nvPr/>
        </p:nvSpPr>
        <p:spPr>
          <a:xfrm>
            <a:off x="10139150" y="5005546"/>
            <a:ext cx="1214650" cy="3352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4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B1E46-D236-4E2E-9132-AED0DD525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总结</a:t>
            </a:r>
            <a:endParaRPr 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7F4892-4E4C-421E-97EA-9B123B80A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642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对于再分配和安全的需求是互补的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高不平等的负外部性，使得富人更倾向于支持再分配政策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高不平等降低了犯罪的机会成本，提高了犯罪的收益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富人对于安全有更高的需求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0754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1959</TotalTime>
  <Words>2363</Words>
  <Application>Microsoft Office PowerPoint</Application>
  <PresentationFormat>宽屏</PresentationFormat>
  <Paragraphs>281</Paragraphs>
  <Slides>43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等线</vt:lpstr>
      <vt:lpstr>等线 Light</vt:lpstr>
      <vt:lpstr>宋体</vt:lpstr>
      <vt:lpstr>微软雅黑</vt:lpstr>
      <vt:lpstr>Arial</vt:lpstr>
      <vt:lpstr>Calibri</vt:lpstr>
      <vt:lpstr>Calibri Light</vt:lpstr>
      <vt:lpstr>Cambria Math</vt:lpstr>
      <vt:lpstr>Times New Roman</vt:lpstr>
      <vt:lpstr>Office 主题​​</vt:lpstr>
      <vt:lpstr>政治经济专题</vt:lpstr>
      <vt:lpstr>PowerPoint 演示文稿</vt:lpstr>
      <vt:lpstr>第一部分 分配政治</vt:lpstr>
      <vt:lpstr>分配政治核心议题</vt:lpstr>
      <vt:lpstr>中国的分配政治：再分配与政府支持</vt:lpstr>
      <vt:lpstr>中国的分配政治：再分配偏好</vt:lpstr>
      <vt:lpstr>第二部分</vt:lpstr>
      <vt:lpstr>研究问题</vt:lpstr>
      <vt:lpstr>理论：个体社会政策偏好来源</vt:lpstr>
      <vt:lpstr>理论：个体社会政策偏好来源</vt:lpstr>
      <vt:lpstr>研究背景</vt:lpstr>
      <vt:lpstr>研究背景</vt:lpstr>
      <vt:lpstr>研究背景</vt:lpstr>
      <vt:lpstr>研究设计</vt:lpstr>
      <vt:lpstr>研究设计</vt:lpstr>
      <vt:lpstr>实证结果</vt:lpstr>
      <vt:lpstr>实证结果：年龄（经历时长）效应</vt:lpstr>
      <vt:lpstr>实证结果：不同代际效应</vt:lpstr>
      <vt:lpstr>实证结果：自利效果</vt:lpstr>
      <vt:lpstr>实证结果：互惠效果</vt:lpstr>
      <vt:lpstr>实证结果：移民</vt:lpstr>
      <vt:lpstr>实证结果：东德地区异质性</vt:lpstr>
      <vt:lpstr>实证结果：社会条件</vt:lpstr>
      <vt:lpstr>实证结果：运气</vt:lpstr>
      <vt:lpstr>总结</vt:lpstr>
      <vt:lpstr>拓展</vt:lpstr>
      <vt:lpstr>第三部分</vt:lpstr>
      <vt:lpstr>研究问题</vt:lpstr>
      <vt:lpstr>理论</vt:lpstr>
      <vt:lpstr>理论</vt:lpstr>
      <vt:lpstr>理论</vt:lpstr>
      <vt:lpstr>理论</vt:lpstr>
      <vt:lpstr>研究设计</vt:lpstr>
      <vt:lpstr>研究设计</vt:lpstr>
      <vt:lpstr>主要结果：收入、不平等与再分配</vt:lpstr>
      <vt:lpstr>主要结果：收入、不平等与再分配</vt:lpstr>
      <vt:lpstr>主要结果：收入、不平等与再分配</vt:lpstr>
      <vt:lpstr>主要结果：收入、不平等与再分配</vt:lpstr>
      <vt:lpstr>机制：对犯罪的恐惧</vt:lpstr>
      <vt:lpstr>机制：对犯罪的恐惧</vt:lpstr>
      <vt:lpstr>机制：对犯罪的恐惧</vt:lpstr>
      <vt:lpstr>机制：对犯罪的恐惧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政治经济专题</dc:title>
  <dc:creator>Wenhui</dc:creator>
  <cp:lastModifiedBy>Wenhui</cp:lastModifiedBy>
  <cp:revision>138</cp:revision>
  <dcterms:created xsi:type="dcterms:W3CDTF">2022-05-09T12:31:47Z</dcterms:created>
  <dcterms:modified xsi:type="dcterms:W3CDTF">2022-05-16T06:50:13Z</dcterms:modified>
</cp:coreProperties>
</file>